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56" r:id="rId4"/>
    <p:sldId id="260" r:id="rId5"/>
    <p:sldId id="261" r:id="rId6"/>
    <p:sldId id="258" r:id="rId7"/>
    <p:sldId id="259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05149A-1208-4F64-AEA5-F75EBC79FA2E}" v="24" dt="2025-11-20T14:36:28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266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m Prakash Pathak" userId="88ee2a2a721ac650" providerId="LiveId" clId="{43641BBD-FD00-48C6-939E-7E0B89591754}"/>
    <pc:docChg chg="undo custSel modSld">
      <pc:chgData name="Prem Prakash Pathak" userId="88ee2a2a721ac650" providerId="LiveId" clId="{43641BBD-FD00-48C6-939E-7E0B89591754}" dt="2025-11-20T14:36:41.079" v="559" actId="1036"/>
      <pc:docMkLst>
        <pc:docMk/>
      </pc:docMkLst>
      <pc:sldChg chg="addSp delSp modSp mod">
        <pc:chgData name="Prem Prakash Pathak" userId="88ee2a2a721ac650" providerId="LiveId" clId="{43641BBD-FD00-48C6-939E-7E0B89591754}" dt="2025-11-20T14:36:41.079" v="559" actId="1036"/>
        <pc:sldMkLst>
          <pc:docMk/>
          <pc:sldMk cId="1814218295" sldId="256"/>
        </pc:sldMkLst>
        <pc:spChg chg="add mod">
          <ac:chgData name="Prem Prakash Pathak" userId="88ee2a2a721ac650" providerId="LiveId" clId="{43641BBD-FD00-48C6-939E-7E0B89591754}" dt="2025-11-20T14:33:32.345" v="536" actId="20577"/>
          <ac:spMkLst>
            <pc:docMk/>
            <pc:sldMk cId="1814218295" sldId="256"/>
            <ac:spMk id="3" creationId="{8F95B055-9AE3-37DB-29B5-139D2C13C349}"/>
          </ac:spMkLst>
        </pc:spChg>
        <pc:spChg chg="mod">
          <ac:chgData name="Prem Prakash Pathak" userId="88ee2a2a721ac650" providerId="LiveId" clId="{43641BBD-FD00-48C6-939E-7E0B89591754}" dt="2025-11-20T14:36:41.079" v="559" actId="1036"/>
          <ac:spMkLst>
            <pc:docMk/>
            <pc:sldMk cId="1814218295" sldId="256"/>
            <ac:spMk id="17" creationId="{105F9770-6E4F-9E88-36D8-48AB5D124499}"/>
          </ac:spMkLst>
        </pc:spChg>
        <pc:picChg chg="add mod">
          <ac:chgData name="Prem Prakash Pathak" userId="88ee2a2a721ac650" providerId="LiveId" clId="{43641BBD-FD00-48C6-939E-7E0B89591754}" dt="2025-10-31T14:41:14.153" v="448"/>
          <ac:picMkLst>
            <pc:docMk/>
            <pc:sldMk cId="1814218295" sldId="256"/>
            <ac:picMk id="5" creationId="{21A284F8-2D4B-E146-7172-FF764A4ABCF9}"/>
          </ac:picMkLst>
        </pc:picChg>
        <pc:picChg chg="add mod">
          <ac:chgData name="Prem Prakash Pathak" userId="88ee2a2a721ac650" providerId="LiveId" clId="{43641BBD-FD00-48C6-939E-7E0B89591754}" dt="2025-11-20T14:34:18.106" v="541" actId="14100"/>
          <ac:picMkLst>
            <pc:docMk/>
            <pc:sldMk cId="1814218295" sldId="256"/>
            <ac:picMk id="6" creationId="{46B82AC7-6F81-0B2B-5903-4C3F79FA6CEF}"/>
          </ac:picMkLst>
        </pc:picChg>
        <pc:picChg chg="add del mod">
          <ac:chgData name="Prem Prakash Pathak" userId="88ee2a2a721ac650" providerId="LiveId" clId="{43641BBD-FD00-48C6-939E-7E0B89591754}" dt="2025-11-20T14:34:14.163" v="539" actId="478"/>
          <ac:picMkLst>
            <pc:docMk/>
            <pc:sldMk cId="1814218295" sldId="256"/>
            <ac:picMk id="8" creationId="{FD7689B0-0559-5FF0-673E-043C1E56119F}"/>
          </ac:picMkLst>
        </pc:picChg>
      </pc:sldChg>
      <pc:sldChg chg="addSp delSp modSp mod">
        <pc:chgData name="Prem Prakash Pathak" userId="88ee2a2a721ac650" providerId="LiveId" clId="{43641BBD-FD00-48C6-939E-7E0B89591754}" dt="2025-10-31T14:41:26.799" v="453"/>
        <pc:sldMkLst>
          <pc:docMk/>
          <pc:sldMk cId="1671480884" sldId="258"/>
        </pc:sldMkLst>
        <pc:spChg chg="mod">
          <ac:chgData name="Prem Prakash Pathak" userId="88ee2a2a721ac650" providerId="LiveId" clId="{43641BBD-FD00-48C6-939E-7E0B89591754}" dt="2025-10-29T08:17:14.469" v="380" actId="123"/>
          <ac:spMkLst>
            <pc:docMk/>
            <pc:sldMk cId="1671480884" sldId="258"/>
            <ac:spMk id="11" creationId="{0BDDC15C-45A2-E470-7426-939A270FB526}"/>
          </ac:spMkLst>
        </pc:spChg>
        <pc:spChg chg="mod">
          <ac:chgData name="Prem Prakash Pathak" userId="88ee2a2a721ac650" providerId="LiveId" clId="{43641BBD-FD00-48C6-939E-7E0B89591754}" dt="2025-10-29T08:17:10.137" v="379" actId="6549"/>
          <ac:spMkLst>
            <pc:docMk/>
            <pc:sldMk cId="1671480884" sldId="258"/>
            <ac:spMk id="13" creationId="{AB1FB17D-E5E8-55C8-25DF-866AB7FAB1EB}"/>
          </ac:spMkLst>
        </pc:spChg>
        <pc:picChg chg="add mod">
          <ac:chgData name="Prem Prakash Pathak" userId="88ee2a2a721ac650" providerId="LiveId" clId="{43641BBD-FD00-48C6-939E-7E0B89591754}" dt="2025-10-29T07:24:45.680" v="260"/>
          <ac:picMkLst>
            <pc:docMk/>
            <pc:sldMk cId="1671480884" sldId="258"/>
            <ac:picMk id="2" creationId="{49A1FCD0-825D-F260-6443-7F3C0893E57D}"/>
          </ac:picMkLst>
        </pc:picChg>
        <pc:picChg chg="add mod">
          <ac:chgData name="Prem Prakash Pathak" userId="88ee2a2a721ac650" providerId="LiveId" clId="{43641BBD-FD00-48C6-939E-7E0B89591754}" dt="2025-10-31T14:41:26.799" v="453"/>
          <ac:picMkLst>
            <pc:docMk/>
            <pc:sldMk cId="1671480884" sldId="258"/>
            <ac:picMk id="3" creationId="{679D7B5F-AED6-3FEB-9C4B-E3DC6436BB0C}"/>
          </ac:picMkLst>
        </pc:picChg>
        <pc:picChg chg="add mod">
          <ac:chgData name="Prem Prakash Pathak" userId="88ee2a2a721ac650" providerId="LiveId" clId="{43641BBD-FD00-48C6-939E-7E0B89591754}" dt="2025-10-29T08:13:26.232" v="329" actId="1076"/>
          <ac:picMkLst>
            <pc:docMk/>
            <pc:sldMk cId="1671480884" sldId="258"/>
            <ac:picMk id="6" creationId="{784F2205-4057-20BD-C6E2-68AE7B495D08}"/>
          </ac:picMkLst>
        </pc:picChg>
        <pc:picChg chg="add mod">
          <ac:chgData name="Prem Prakash Pathak" userId="88ee2a2a721ac650" providerId="LiveId" clId="{43641BBD-FD00-48C6-939E-7E0B89591754}" dt="2025-10-29T08:15:22.903" v="352" actId="1036"/>
          <ac:picMkLst>
            <pc:docMk/>
            <pc:sldMk cId="1671480884" sldId="258"/>
            <ac:picMk id="8" creationId="{9EE47749-0EAC-F583-7FE2-508502906B42}"/>
          </ac:picMkLst>
        </pc:picChg>
      </pc:sldChg>
      <pc:sldChg chg="addSp delSp modSp mod">
        <pc:chgData name="Prem Prakash Pathak" userId="88ee2a2a721ac650" providerId="LiveId" clId="{43641BBD-FD00-48C6-939E-7E0B89591754}" dt="2025-10-31T14:41:30.334" v="455"/>
        <pc:sldMkLst>
          <pc:docMk/>
          <pc:sldMk cId="4064209164" sldId="259"/>
        </pc:sldMkLst>
        <pc:picChg chg="add mod">
          <ac:chgData name="Prem Prakash Pathak" userId="88ee2a2a721ac650" providerId="LiveId" clId="{43641BBD-FD00-48C6-939E-7E0B89591754}" dt="2025-10-31T14:41:30.334" v="455"/>
          <ac:picMkLst>
            <pc:docMk/>
            <pc:sldMk cId="4064209164" sldId="259"/>
            <ac:picMk id="2" creationId="{4E37C072-A37A-B475-641F-01E5D605C785}"/>
          </ac:picMkLst>
        </pc:picChg>
      </pc:sldChg>
      <pc:sldChg chg="addSp delSp modSp mod">
        <pc:chgData name="Prem Prakash Pathak" userId="88ee2a2a721ac650" providerId="LiveId" clId="{43641BBD-FD00-48C6-939E-7E0B89591754}" dt="2025-10-31T14:41:17.925" v="450"/>
        <pc:sldMkLst>
          <pc:docMk/>
          <pc:sldMk cId="583035820" sldId="260"/>
        </pc:sldMkLst>
        <pc:picChg chg="add mod">
          <ac:chgData name="Prem Prakash Pathak" userId="88ee2a2a721ac650" providerId="LiveId" clId="{43641BBD-FD00-48C6-939E-7E0B89591754}" dt="2025-10-31T14:41:17.925" v="450"/>
          <ac:picMkLst>
            <pc:docMk/>
            <pc:sldMk cId="583035820" sldId="260"/>
            <ac:picMk id="5" creationId="{2F6A29C9-8BAE-A883-5F57-B1508F7FB707}"/>
          </ac:picMkLst>
        </pc:picChg>
        <pc:picChg chg="add mod">
          <ac:chgData name="Prem Prakash Pathak" userId="88ee2a2a721ac650" providerId="LiveId" clId="{43641BBD-FD00-48C6-939E-7E0B89591754}" dt="2025-10-29T08:11:06.717" v="286" actId="1076"/>
          <ac:picMkLst>
            <pc:docMk/>
            <pc:sldMk cId="583035820" sldId="260"/>
            <ac:picMk id="9" creationId="{EA291EFF-D710-CA2D-F1D3-92994DB4D906}"/>
          </ac:picMkLst>
        </pc:picChg>
        <pc:picChg chg="add mod">
          <ac:chgData name="Prem Prakash Pathak" userId="88ee2a2a721ac650" providerId="LiveId" clId="{43641BBD-FD00-48C6-939E-7E0B89591754}" dt="2025-10-29T08:11:40.481" v="304" actId="1036"/>
          <ac:picMkLst>
            <pc:docMk/>
            <pc:sldMk cId="583035820" sldId="260"/>
            <ac:picMk id="16" creationId="{F823651D-F95F-4B94-9566-EE073622136A}"/>
          </ac:picMkLst>
        </pc:picChg>
      </pc:sldChg>
      <pc:sldChg chg="addSp delSp modSp mod">
        <pc:chgData name="Prem Prakash Pathak" userId="88ee2a2a721ac650" providerId="LiveId" clId="{43641BBD-FD00-48C6-939E-7E0B89591754}" dt="2025-10-31T14:41:22.282" v="452"/>
        <pc:sldMkLst>
          <pc:docMk/>
          <pc:sldMk cId="1288282771" sldId="261"/>
        </pc:sldMkLst>
        <pc:spChg chg="add mod">
          <ac:chgData name="Prem Prakash Pathak" userId="88ee2a2a721ac650" providerId="LiveId" clId="{43641BBD-FD00-48C6-939E-7E0B89591754}" dt="2025-10-29T07:25:18.151" v="263"/>
          <ac:spMkLst>
            <pc:docMk/>
            <pc:sldMk cId="1288282771" sldId="261"/>
            <ac:spMk id="5" creationId="{449C13D9-2648-82F9-7D08-9A31B3114BCC}"/>
          </ac:spMkLst>
        </pc:spChg>
        <pc:picChg chg="add mod">
          <ac:chgData name="Prem Prakash Pathak" userId="88ee2a2a721ac650" providerId="LiveId" clId="{43641BBD-FD00-48C6-939E-7E0B89591754}" dt="2025-10-31T14:41:22.282" v="452"/>
          <ac:picMkLst>
            <pc:docMk/>
            <pc:sldMk cId="1288282771" sldId="261"/>
            <ac:picMk id="7" creationId="{CF9A0576-9AF4-049B-5C70-663AFC69F2C4}"/>
          </ac:picMkLst>
        </pc:picChg>
        <pc:picChg chg="add mod">
          <ac:chgData name="Prem Prakash Pathak" userId="88ee2a2a721ac650" providerId="LiveId" clId="{43641BBD-FD00-48C6-939E-7E0B89591754}" dt="2025-10-29T08:12:13.955" v="313" actId="1036"/>
          <ac:picMkLst>
            <pc:docMk/>
            <pc:sldMk cId="1288282771" sldId="261"/>
            <ac:picMk id="9" creationId="{F359F202-70BA-1BCB-F332-91F9C654728C}"/>
          </ac:picMkLst>
        </pc:picChg>
        <pc:picChg chg="add mod">
          <ac:chgData name="Prem Prakash Pathak" userId="88ee2a2a721ac650" providerId="LiveId" clId="{43641BBD-FD00-48C6-939E-7E0B89591754}" dt="2025-10-29T08:12:42.611" v="324" actId="1036"/>
          <ac:picMkLst>
            <pc:docMk/>
            <pc:sldMk cId="1288282771" sldId="261"/>
            <ac:picMk id="17" creationId="{33244032-19B5-96E8-B409-2691B7E5282F}"/>
          </ac:picMkLst>
        </pc:picChg>
      </pc:sldChg>
      <pc:sldChg chg="addSp delSp modSp mod">
        <pc:chgData name="Prem Prakash Pathak" userId="88ee2a2a721ac650" providerId="LiveId" clId="{43641BBD-FD00-48C6-939E-7E0B89591754}" dt="2025-10-31T14:41:02.116" v="444" actId="732"/>
        <pc:sldMkLst>
          <pc:docMk/>
          <pc:sldMk cId="4010725638" sldId="263"/>
        </pc:sldMkLst>
        <pc:spChg chg="mod">
          <ac:chgData name="Prem Prakash Pathak" userId="88ee2a2a721ac650" providerId="LiveId" clId="{43641BBD-FD00-48C6-939E-7E0B89591754}" dt="2025-10-29T08:27:44.858" v="435" actId="1036"/>
          <ac:spMkLst>
            <pc:docMk/>
            <pc:sldMk cId="4010725638" sldId="263"/>
            <ac:spMk id="13" creationId="{E7FDF164-FC6E-782C-2A51-0E18DBCB5724}"/>
          </ac:spMkLst>
        </pc:spChg>
        <pc:picChg chg="add mod modCrop">
          <ac:chgData name="Prem Prakash Pathak" userId="88ee2a2a721ac650" providerId="LiveId" clId="{43641BBD-FD00-48C6-939E-7E0B89591754}" dt="2025-10-31T14:41:02.116" v="444" actId="732"/>
          <ac:picMkLst>
            <pc:docMk/>
            <pc:sldMk cId="4010725638" sldId="263"/>
            <ac:picMk id="6" creationId="{FE130531-7198-F189-251F-8F513F833EA2}"/>
          </ac:picMkLst>
        </pc:picChg>
        <pc:picChg chg="add mod">
          <ac:chgData name="Prem Prakash Pathak" userId="88ee2a2a721ac650" providerId="LiveId" clId="{43641BBD-FD00-48C6-939E-7E0B89591754}" dt="2025-10-29T08:28:27.669" v="443" actId="1076"/>
          <ac:picMkLst>
            <pc:docMk/>
            <pc:sldMk cId="4010725638" sldId="263"/>
            <ac:picMk id="9" creationId="{8108462C-EEE8-B1CE-112B-152EF7B1969D}"/>
          </ac:picMkLst>
        </pc:picChg>
      </pc:sldChg>
      <pc:sldChg chg="addSp delSp modSp mod">
        <pc:chgData name="Prem Prakash Pathak" userId="88ee2a2a721ac650" providerId="LiveId" clId="{43641BBD-FD00-48C6-939E-7E0B89591754}" dt="2025-11-20T14:31:57.105" v="495" actId="207"/>
        <pc:sldMkLst>
          <pc:docMk/>
          <pc:sldMk cId="1833141371" sldId="264"/>
        </pc:sldMkLst>
        <pc:spChg chg="mod">
          <ac:chgData name="Prem Prakash Pathak" userId="88ee2a2a721ac650" providerId="LiveId" clId="{43641BBD-FD00-48C6-939E-7E0B89591754}" dt="2025-11-20T14:30:40.133" v="461" actId="20577"/>
          <ac:spMkLst>
            <pc:docMk/>
            <pc:sldMk cId="1833141371" sldId="264"/>
            <ac:spMk id="3" creationId="{B010A97E-C61C-E8A3-91AB-E6C0C72EDFF0}"/>
          </ac:spMkLst>
        </pc:spChg>
        <pc:spChg chg="mod">
          <ac:chgData name="Prem Prakash Pathak" userId="88ee2a2a721ac650" providerId="LiveId" clId="{43641BBD-FD00-48C6-939E-7E0B89591754}" dt="2025-11-20T14:31:29.388" v="475" actId="20577"/>
          <ac:spMkLst>
            <pc:docMk/>
            <pc:sldMk cId="1833141371" sldId="264"/>
            <ac:spMk id="5" creationId="{34B34EB3-9ECB-BC38-3C72-AA976CA0BDFF}"/>
          </ac:spMkLst>
        </pc:spChg>
        <pc:spChg chg="mod">
          <ac:chgData name="Prem Prakash Pathak" userId="88ee2a2a721ac650" providerId="LiveId" clId="{43641BBD-FD00-48C6-939E-7E0B89591754}" dt="2025-11-20T14:30:55.097" v="467" actId="20577"/>
          <ac:spMkLst>
            <pc:docMk/>
            <pc:sldMk cId="1833141371" sldId="264"/>
            <ac:spMk id="7" creationId="{908B16C7-B476-49CC-22E6-09B8AAB9BF97}"/>
          </ac:spMkLst>
        </pc:spChg>
        <pc:spChg chg="mod">
          <ac:chgData name="Prem Prakash Pathak" userId="88ee2a2a721ac650" providerId="LiveId" clId="{43641BBD-FD00-48C6-939E-7E0B89591754}" dt="2025-11-20T14:31:57.105" v="495" actId="207"/>
          <ac:spMkLst>
            <pc:docMk/>
            <pc:sldMk cId="1833141371" sldId="264"/>
            <ac:spMk id="9" creationId="{AF0448E2-9F79-C325-2F76-C54EE539E818}"/>
          </ac:spMkLst>
        </pc:spChg>
        <pc:spChg chg="mod">
          <ac:chgData name="Prem Prakash Pathak" userId="88ee2a2a721ac650" providerId="LiveId" clId="{43641BBD-FD00-48C6-939E-7E0B89591754}" dt="2025-10-29T08:22:03.801" v="422"/>
          <ac:spMkLst>
            <pc:docMk/>
            <pc:sldMk cId="1833141371" sldId="264"/>
            <ac:spMk id="27" creationId="{491D20EC-4DD0-42CE-0E1E-05B02CF08793}"/>
          </ac:spMkLst>
        </pc:spChg>
        <pc:spChg chg="mod">
          <ac:chgData name="Prem Prakash Pathak" userId="88ee2a2a721ac650" providerId="LiveId" clId="{43641BBD-FD00-48C6-939E-7E0B89591754}" dt="2025-10-29T08:22:03.801" v="422"/>
          <ac:spMkLst>
            <pc:docMk/>
            <pc:sldMk cId="1833141371" sldId="264"/>
            <ac:spMk id="29" creationId="{6ADDB641-1720-06D2-9879-7A8FEC7E531A}"/>
          </ac:spMkLst>
        </pc:spChg>
        <pc:spChg chg="mod">
          <ac:chgData name="Prem Prakash Pathak" userId="88ee2a2a721ac650" providerId="LiveId" clId="{43641BBD-FD00-48C6-939E-7E0B89591754}" dt="2025-10-29T08:22:31.126" v="428" actId="14100"/>
          <ac:spMkLst>
            <pc:docMk/>
            <pc:sldMk cId="1833141371" sldId="264"/>
            <ac:spMk id="31" creationId="{F393A542-059E-B53D-8846-15B8862FB6BA}"/>
          </ac:spMkLst>
        </pc:spChg>
        <pc:spChg chg="mod">
          <ac:chgData name="Prem Prakash Pathak" userId="88ee2a2a721ac650" providerId="LiveId" clId="{43641BBD-FD00-48C6-939E-7E0B89591754}" dt="2025-10-29T08:22:03.801" v="422"/>
          <ac:spMkLst>
            <pc:docMk/>
            <pc:sldMk cId="1833141371" sldId="264"/>
            <ac:spMk id="33" creationId="{71F64132-7874-3DCF-40D9-86ACF78AD854}"/>
          </ac:spMkLst>
        </pc:spChg>
        <pc:spChg chg="mod">
          <ac:chgData name="Prem Prakash Pathak" userId="88ee2a2a721ac650" providerId="LiveId" clId="{43641BBD-FD00-48C6-939E-7E0B89591754}" dt="2025-10-29T08:22:03.801" v="422"/>
          <ac:spMkLst>
            <pc:docMk/>
            <pc:sldMk cId="1833141371" sldId="264"/>
            <ac:spMk id="34" creationId="{AF71EC70-0723-AF5B-867D-AB3378A24291}"/>
          </ac:spMkLst>
        </pc:spChg>
        <pc:spChg chg="mod">
          <ac:chgData name="Prem Prakash Pathak" userId="88ee2a2a721ac650" providerId="LiveId" clId="{43641BBD-FD00-48C6-939E-7E0B89591754}" dt="2025-10-29T08:22:03.801" v="422"/>
          <ac:spMkLst>
            <pc:docMk/>
            <pc:sldMk cId="1833141371" sldId="264"/>
            <ac:spMk id="35" creationId="{E020DCFB-A416-C26C-46AE-7CD76706D909}"/>
          </ac:spMkLst>
        </pc:spChg>
        <pc:grpChg chg="mod">
          <ac:chgData name="Prem Prakash Pathak" userId="88ee2a2a721ac650" providerId="LiveId" clId="{43641BBD-FD00-48C6-939E-7E0B89591754}" dt="2025-10-29T08:22:03.801" v="422"/>
          <ac:grpSpMkLst>
            <pc:docMk/>
            <pc:sldMk cId="1833141371" sldId="264"/>
            <ac:grpSpMk id="6" creationId="{325DD7C7-E58F-E614-FADE-BBDCCD4CA98B}"/>
          </ac:grpSpMkLst>
        </pc:grpChg>
        <pc:picChg chg="add mod">
          <ac:chgData name="Prem Prakash Pathak" userId="88ee2a2a721ac650" providerId="LiveId" clId="{43641BBD-FD00-48C6-939E-7E0B89591754}" dt="2025-10-31T14:41:10.243" v="446"/>
          <ac:picMkLst>
            <pc:docMk/>
            <pc:sldMk cId="1833141371" sldId="264"/>
            <ac:picMk id="12" creationId="{E7AA2F20-7ADA-52B3-8809-D3F33AC0D2D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563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10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97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10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461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519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71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16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799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624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5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D9143-823C-4A70-B62B-30706E072E8F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52635-3B26-44E4-B254-64EA90E55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16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mazon.in/dp/937335308X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://www.pvdas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99A27-22DA-ED5E-2594-8F846FE30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65D8F4-ADD2-7880-8C21-977305B38C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082"/>
          <a:stretch>
            <a:fillRect/>
          </a:stretch>
        </p:blipFill>
        <p:spPr>
          <a:xfrm>
            <a:off x="0" y="1"/>
            <a:ext cx="2014933" cy="70605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34F886B-2210-7ABC-D203-8001F3FA1D34}"/>
              </a:ext>
            </a:extLst>
          </p:cNvPr>
          <p:cNvSpPr txBox="1"/>
          <p:nvPr/>
        </p:nvSpPr>
        <p:spPr>
          <a:xfrm>
            <a:off x="-1" y="9296839"/>
            <a:ext cx="68579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Confidential &amp; Personal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This report contains sensitive personal insights. It is intended solely for the recipient and should not be shared, distributed, or discussed without explicit consent.</a:t>
            </a:r>
            <a:endParaRPr lang="en-IN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7A6B30-95F6-683D-8275-330E8381AB36}"/>
              </a:ext>
            </a:extLst>
          </p:cNvPr>
          <p:cNvSpPr txBox="1"/>
          <p:nvPr/>
        </p:nvSpPr>
        <p:spPr>
          <a:xfrm>
            <a:off x="1" y="1002890"/>
            <a:ext cx="685799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LEAD Leadership 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DF164-FC6E-782C-2A51-0E18DBCB5724}"/>
              </a:ext>
            </a:extLst>
          </p:cNvPr>
          <p:cNvSpPr txBox="1"/>
          <p:nvPr/>
        </p:nvSpPr>
        <p:spPr>
          <a:xfrm>
            <a:off x="-1" y="1448232"/>
            <a:ext cx="672526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Your LEAD profile shows a </a:t>
            </a:r>
            <a:r>
              <a:rPr lang="en-US" sz="1200" b="1" dirty="0"/>
              <a:t>strong and balanced foundation across all four pillars</a:t>
            </a:r>
            <a:r>
              <a:rPr lang="en-US" sz="1200" dirty="0"/>
              <a:t> — </a:t>
            </a:r>
            <a:r>
              <a:rPr lang="en-US" sz="1200" i="1" dirty="0"/>
              <a:t>Loka-saṅgraha</a:t>
            </a:r>
            <a:r>
              <a:rPr lang="en-US" sz="1200" dirty="0"/>
              <a:t> (Purpose), </a:t>
            </a:r>
            <a:r>
              <a:rPr lang="en-US" sz="1200" i="1" dirty="0"/>
              <a:t>Equanimity</a:t>
            </a:r>
            <a:r>
              <a:rPr lang="en-US" sz="1200" dirty="0"/>
              <a:t> (Balance), </a:t>
            </a:r>
            <a:r>
              <a:rPr lang="en-US" sz="1200" i="1" dirty="0"/>
              <a:t>Association</a:t>
            </a:r>
            <a:r>
              <a:rPr lang="en-US" sz="1200" dirty="0"/>
              <a:t> (Influence), and </a:t>
            </a:r>
            <a:r>
              <a:rPr lang="en-US" sz="1200" i="1" dirty="0"/>
              <a:t>Dharma</a:t>
            </a:r>
            <a:r>
              <a:rPr lang="en-US" sz="1200" dirty="0"/>
              <a:t> (Integrity). You demonstrate steady purpose, calm under pressure, moral fairness, and a sincere desire to learn and collaborate. This balance reflects a </a:t>
            </a:r>
            <a:r>
              <a:rPr lang="en-US" sz="1200" b="1" dirty="0"/>
              <a:t>“stable tripod”</a:t>
            </a:r>
            <a:r>
              <a:rPr lang="en-US" sz="1200" dirty="0"/>
              <a:t> of leadership energy — capable of adapting to diverse people and situations.</a:t>
            </a:r>
          </a:p>
          <a:p>
            <a:r>
              <a:rPr lang="en-US" sz="1200" dirty="0"/>
              <a:t>However, like all balanced profiles, there is a mild risk of </a:t>
            </a:r>
            <a:r>
              <a:rPr lang="en-US" sz="1200" b="1" dirty="0"/>
              <a:t>diffused focus and delayed action</a:t>
            </a:r>
            <a:r>
              <a:rPr lang="en-US" sz="1200" dirty="0"/>
              <a:t> if priorities are not regularly clarified. A clear </a:t>
            </a:r>
            <a:r>
              <a:rPr lang="en-US" sz="1200" b="1" dirty="0"/>
              <a:t>North Star</a:t>
            </a:r>
            <a:r>
              <a:rPr lang="en-US" sz="1200" dirty="0"/>
              <a:t> — a long-term vision or leadership goal — will help sustain direction, momentum, and impact.</a:t>
            </a:r>
          </a:p>
          <a:p>
            <a:endParaRPr lang="en-US" sz="1200" b="1" dirty="0"/>
          </a:p>
          <a:p>
            <a:r>
              <a:rPr lang="en-US" sz="1200" b="1" dirty="0"/>
              <a:t>Pillar Insights</a:t>
            </a:r>
          </a:p>
          <a:p>
            <a:r>
              <a:rPr lang="en-US" sz="1200" b="1" dirty="0"/>
              <a:t>Loka-saṅgraha:</a:t>
            </a:r>
            <a:r>
              <a:rPr lang="en-US" sz="1200" dirty="0"/>
              <a:t> Purpose is expanding, supported by healthy habits. Strengthen clarity through quarterly resets and sharper prioritization.</a:t>
            </a:r>
          </a:p>
          <a:p>
            <a:r>
              <a:rPr lang="en-US" sz="1200" b="1" dirty="0"/>
              <a:t>Equanimity:</a:t>
            </a:r>
            <a:r>
              <a:rPr lang="en-US" sz="1200" dirty="0"/>
              <a:t> You recover well from stress but sometimes delay responses. Define escalation cues and conduct “pre-fire drills” to maintain speed with calm.</a:t>
            </a:r>
          </a:p>
          <a:p>
            <a:r>
              <a:rPr lang="en-US" sz="1200" b="1" dirty="0"/>
              <a:t>Association:</a:t>
            </a:r>
            <a:r>
              <a:rPr lang="en-US" sz="1200" dirty="0"/>
              <a:t> Curiosity drives learning, though unfiltered inputs may create noise. Do a source audit and form a trusted mentor panel to refine discernment.</a:t>
            </a:r>
          </a:p>
          <a:p>
            <a:r>
              <a:rPr lang="en-US" sz="1200" b="1" dirty="0"/>
              <a:t>Dharma:</a:t>
            </a:r>
            <a:r>
              <a:rPr lang="en-US" sz="1200" dirty="0"/>
              <a:t> Fair and process-driven, though complex decisions may slow. Practice gray-zone simulations and build a principles playbook to act with clarity and courage.</a:t>
            </a:r>
          </a:p>
          <a:p>
            <a:endParaRPr lang="en-US" sz="1200" b="1" dirty="0"/>
          </a:p>
          <a:p>
            <a:r>
              <a:rPr lang="en-US" sz="1200" b="1" dirty="0"/>
              <a:t>Leadership Archetypes</a:t>
            </a:r>
          </a:p>
          <a:p>
            <a:r>
              <a:rPr lang="en-US" sz="1200" dirty="0"/>
              <a:t>You reflect a </a:t>
            </a:r>
            <a:r>
              <a:rPr lang="en-US" sz="1200" b="1" dirty="0"/>
              <a:t>blend of mature and emerging archetypes</a:t>
            </a:r>
            <a:r>
              <a:rPr lang="en-US" sz="1200" dirty="0"/>
              <a:t>, showing both depth and versatility:</a:t>
            </a:r>
          </a:p>
          <a:p>
            <a:r>
              <a:rPr lang="en-US" sz="1200" b="1" dirty="0"/>
              <a:t>Wise Altruist:</a:t>
            </a:r>
            <a:r>
              <a:rPr lang="en-US" sz="1200" dirty="0"/>
              <a:t> Combines compassion with clarity; balances heart and KPIs.</a:t>
            </a:r>
          </a:p>
          <a:p>
            <a:r>
              <a:rPr lang="en-US" sz="1200" b="1" dirty="0"/>
              <a:t>Inclusive Influencer:</a:t>
            </a:r>
            <a:r>
              <a:rPr lang="en-US" sz="1200" dirty="0"/>
              <a:t> Listens deeply; builds culture through diverse perspectives.</a:t>
            </a:r>
          </a:p>
          <a:p>
            <a:r>
              <a:rPr lang="en-US" sz="1200" b="1" dirty="0"/>
              <a:t>Purpose-Aligned Achiever:</a:t>
            </a:r>
            <a:r>
              <a:rPr lang="en-US" sz="1200" dirty="0"/>
              <a:t> Ambitious yet ethical; focused on long-term, values-based success.</a:t>
            </a:r>
          </a:p>
          <a:p>
            <a:r>
              <a:rPr lang="en-US" sz="1200" b="1" dirty="0"/>
              <a:t>Long-Term Collaborator:</a:t>
            </a:r>
            <a:r>
              <a:rPr lang="en-US" sz="1200" dirty="0"/>
              <a:t> Sustains systems; aligns stakeholders toward shared goals.</a:t>
            </a:r>
          </a:p>
          <a:p>
            <a:r>
              <a:rPr lang="en-US" sz="1200" b="1" dirty="0"/>
              <a:t>Reflective Thinker:</a:t>
            </a:r>
            <a:r>
              <a:rPr lang="en-US" sz="1200" dirty="0"/>
              <a:t> Deeply analytical; benefits from faster, experiment-based execution.</a:t>
            </a:r>
          </a:p>
          <a:p>
            <a:r>
              <a:rPr lang="en-US" sz="1200" dirty="0"/>
              <a:t>Together, these patterns reveal a leader who </a:t>
            </a:r>
            <a:r>
              <a:rPr lang="en-US" sz="1200" b="1" dirty="0"/>
              <a:t>thinks broadly, acts ethically, and seeks collective growth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The opportunity ahead lies in translating insight into consistent execution — moving from </a:t>
            </a:r>
            <a:r>
              <a:rPr lang="en-US" sz="1200" i="1" dirty="0"/>
              <a:t>thinking and caring</a:t>
            </a:r>
            <a:r>
              <a:rPr lang="en-US" sz="1200" dirty="0"/>
              <a:t> to </a:t>
            </a:r>
            <a:r>
              <a:rPr lang="en-US" sz="1200" i="1" dirty="0"/>
              <a:t>building and scaling</a:t>
            </a:r>
            <a:r>
              <a:rPr lang="en-US" sz="1200" dirty="0"/>
              <a:t>.</a:t>
            </a:r>
          </a:p>
          <a:p>
            <a:endParaRPr lang="en-US" sz="1200" b="1" dirty="0"/>
          </a:p>
          <a:p>
            <a:r>
              <a:rPr lang="en-US" sz="1200" b="1" dirty="0"/>
              <a:t>Current Focus</a:t>
            </a:r>
          </a:p>
          <a:p>
            <a:r>
              <a:rPr lang="en-US" sz="1200" dirty="0"/>
              <a:t>There are moments when ownership becomes unclear, slowing action or decision-making. Strengthen follow-through through </a:t>
            </a:r>
            <a:r>
              <a:rPr lang="en-US" sz="1200" b="1" dirty="0"/>
              <a:t>clear RACI roles, daily closure checklists, and sponsor-based accountability</a:t>
            </a:r>
            <a:r>
              <a:rPr lang="en-US" sz="1200" dirty="0"/>
              <a:t>. This will help turn reflection into reliable outcomes.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328D8-B782-887B-7CA0-7249CF7BD900}"/>
              </a:ext>
            </a:extLst>
          </p:cNvPr>
          <p:cNvSpPr txBox="1"/>
          <p:nvPr/>
        </p:nvSpPr>
        <p:spPr>
          <a:xfrm>
            <a:off x="0" y="794545"/>
            <a:ext cx="685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Prepared by Dr. Prem Prakash Pathak | Executive Alumni, IIM Kozhikode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130531-7198-F189-251F-8F513F833E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243"/>
          <a:stretch>
            <a:fillRect/>
          </a:stretch>
        </p:blipFill>
        <p:spPr>
          <a:xfrm>
            <a:off x="3585553" y="47060"/>
            <a:ext cx="3139712" cy="3400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08462C-EEE8-B1CE-112B-152EF7B19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933" y="7718453"/>
            <a:ext cx="2088569" cy="149447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072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28D57-F3F9-A9C7-70A1-1DE28ECA8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35F860-05AA-102C-3F76-0C4E5E9606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082"/>
          <a:stretch>
            <a:fillRect/>
          </a:stretch>
        </p:blipFill>
        <p:spPr>
          <a:xfrm>
            <a:off x="0" y="1"/>
            <a:ext cx="2014933" cy="70605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544201F-282A-2BA1-1FA0-2E62298C4B64}"/>
              </a:ext>
            </a:extLst>
          </p:cNvPr>
          <p:cNvSpPr txBox="1"/>
          <p:nvPr/>
        </p:nvSpPr>
        <p:spPr>
          <a:xfrm>
            <a:off x="-1" y="9296839"/>
            <a:ext cx="68579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Confidential &amp; Personal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This report contains sensitive personal insights. It is intended solely for the recipient and should not be shared, distributed, or discussed without explicit consent.</a:t>
            </a:r>
            <a:endParaRPr lang="en-IN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FE4DAB-4DFF-E60B-7D90-0047399E1262}"/>
              </a:ext>
            </a:extLst>
          </p:cNvPr>
          <p:cNvGrpSpPr/>
          <p:nvPr/>
        </p:nvGrpSpPr>
        <p:grpSpPr>
          <a:xfrm>
            <a:off x="195600" y="1572067"/>
            <a:ext cx="6662400" cy="4680245"/>
            <a:chOff x="195600" y="952649"/>
            <a:chExt cx="6662400" cy="468024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D172505-4785-3902-ACDB-9E00F3A0F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600" y="952649"/>
              <a:ext cx="6540774" cy="4680245"/>
            </a:xfrm>
            <a:prstGeom prst="rect">
              <a:avLst/>
            </a:prstGeom>
            <a:ln>
              <a:noFill/>
            </a:ln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010A97E-C61C-E8A3-91AB-E6C0C72EDFF0}"/>
                </a:ext>
              </a:extLst>
            </p:cNvPr>
            <p:cNvSpPr txBox="1"/>
            <p:nvPr/>
          </p:nvSpPr>
          <p:spPr>
            <a:xfrm>
              <a:off x="4737477" y="962571"/>
              <a:ext cx="1937937" cy="6463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dirty="0"/>
                <a:t>T-Score</a:t>
              </a:r>
            </a:p>
            <a:p>
              <a:r>
                <a:rPr lang="en-IN" dirty="0"/>
                <a:t>57.1 (Balanced)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4B34EB3-9ECB-BC38-3C72-AA976CA0BDFF}"/>
                </a:ext>
              </a:extLst>
            </p:cNvPr>
            <p:cNvSpPr txBox="1"/>
            <p:nvPr/>
          </p:nvSpPr>
          <p:spPr>
            <a:xfrm>
              <a:off x="4724463" y="3434959"/>
              <a:ext cx="1937937" cy="6463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dirty="0"/>
                <a:t>T-Score</a:t>
              </a:r>
            </a:p>
            <a:p>
              <a:r>
                <a:rPr lang="en-IN" dirty="0"/>
                <a:t>52.7 (Balanced)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8B16C7-B476-49CC-22E6-09B8AAB9BF97}"/>
                </a:ext>
              </a:extLst>
            </p:cNvPr>
            <p:cNvSpPr txBox="1"/>
            <p:nvPr/>
          </p:nvSpPr>
          <p:spPr>
            <a:xfrm>
              <a:off x="195600" y="3434958"/>
              <a:ext cx="1937937" cy="6463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dirty="0"/>
                <a:t>T-Score</a:t>
              </a:r>
            </a:p>
            <a:p>
              <a:r>
                <a:rPr lang="en-IN" dirty="0"/>
                <a:t>52.8 (Balanced)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0448E2-9F79-C325-2F76-C54EE539E818}"/>
                </a:ext>
              </a:extLst>
            </p:cNvPr>
            <p:cNvSpPr txBox="1"/>
            <p:nvPr/>
          </p:nvSpPr>
          <p:spPr>
            <a:xfrm>
              <a:off x="4737477" y="4953000"/>
              <a:ext cx="2120523" cy="6463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dirty="0"/>
                <a:t>T-Score</a:t>
              </a:r>
            </a:p>
            <a:p>
              <a:r>
                <a:rPr lang="en-IN" dirty="0"/>
                <a:t>46.7 (Balanced)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25DD7C7-E58F-E614-FADE-BBDCCD4CA98B}"/>
              </a:ext>
            </a:extLst>
          </p:cNvPr>
          <p:cNvGrpSpPr/>
          <p:nvPr/>
        </p:nvGrpSpPr>
        <p:grpSpPr>
          <a:xfrm>
            <a:off x="106484" y="6752102"/>
            <a:ext cx="6751514" cy="2508925"/>
            <a:chOff x="124482" y="6150077"/>
            <a:chExt cx="6751514" cy="25089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F71EC70-0723-AF5B-867D-AB3378A24291}"/>
                </a:ext>
              </a:extLst>
            </p:cNvPr>
            <p:cNvSpPr/>
            <p:nvPr/>
          </p:nvSpPr>
          <p:spPr>
            <a:xfrm>
              <a:off x="141198" y="6150077"/>
              <a:ext cx="3225800" cy="250892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1D20EC-4DD0-42CE-0E1E-05B02CF08793}"/>
                </a:ext>
              </a:extLst>
            </p:cNvPr>
            <p:cNvSpPr txBox="1"/>
            <p:nvPr/>
          </p:nvSpPr>
          <p:spPr>
            <a:xfrm>
              <a:off x="124482" y="6194321"/>
              <a:ext cx="3225800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Pillar L — Loka-saṅgraha (Collective Purpose)</a:t>
              </a:r>
            </a:p>
            <a:p>
              <a:r>
                <a:rPr lang="en-US" sz="1100" b="1" dirty="0"/>
                <a:t>Balanced:</a:t>
              </a:r>
              <a:r>
                <a:rPr lang="en-US" sz="1100" dirty="0"/>
                <a:t> Decent balance; scope growing.</a:t>
              </a:r>
              <a:br>
                <a:rPr lang="en-US" sz="1100" dirty="0"/>
              </a:br>
              <a:r>
                <a:rPr lang="en-US" sz="1100" b="1" dirty="0"/>
                <a:t>Strength:</a:t>
              </a:r>
              <a:r>
                <a:rPr lang="en-US" sz="1100" dirty="0"/>
                <a:t> Healthy routines and expanding outreach.</a:t>
              </a:r>
              <a:br>
                <a:rPr lang="en-US" sz="1100" dirty="0"/>
              </a:br>
              <a:r>
                <a:rPr lang="en-US" sz="1100" b="1" dirty="0"/>
                <a:t>Risk:</a:t>
              </a:r>
              <a:r>
                <a:rPr lang="en-US" sz="1100" dirty="0"/>
                <a:t> Tendency to drift without a sharp anchor.</a:t>
              </a:r>
              <a:br>
                <a:rPr lang="en-US" sz="1100" dirty="0"/>
              </a:br>
              <a:r>
                <a:rPr lang="en-US" sz="1100" b="1" dirty="0"/>
                <a:t>Focus:</a:t>
              </a:r>
              <a:r>
                <a:rPr lang="en-US" sz="1100" dirty="0"/>
                <a:t> Do a quarterly reset; practice ruthless prioritization.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ADDB641-1720-06D2-9879-7A8FEC7E531A}"/>
                </a:ext>
              </a:extLst>
            </p:cNvPr>
            <p:cNvSpPr txBox="1"/>
            <p:nvPr/>
          </p:nvSpPr>
          <p:spPr>
            <a:xfrm>
              <a:off x="168726" y="7221561"/>
              <a:ext cx="3225800" cy="127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Pillar E — Equanimity (Balance in Mind and Response)</a:t>
              </a:r>
            </a:p>
            <a:p>
              <a:r>
                <a:rPr lang="en-US" sz="1100" b="1" dirty="0"/>
                <a:t>Balanced:</a:t>
              </a:r>
              <a:r>
                <a:rPr lang="en-US" sz="1100" dirty="0"/>
                <a:t> Mostly even and composed.</a:t>
              </a:r>
              <a:br>
                <a:rPr lang="en-US" sz="1100" dirty="0"/>
              </a:br>
              <a:r>
                <a:rPr lang="en-US" sz="1100" b="1" dirty="0"/>
                <a:t>Strength:</a:t>
              </a:r>
              <a:r>
                <a:rPr lang="en-US" sz="1100" dirty="0"/>
                <a:t> Recovers well from pressure.</a:t>
              </a:r>
              <a:br>
                <a:rPr lang="en-US" sz="1100" dirty="0"/>
              </a:br>
              <a:r>
                <a:rPr lang="en-US" sz="1100" b="1" dirty="0"/>
                <a:t>Risk:</a:t>
              </a:r>
              <a:r>
                <a:rPr lang="en-US" sz="1100" dirty="0"/>
                <a:t> Calmness may slip into slow response.</a:t>
              </a:r>
              <a:br>
                <a:rPr lang="en-US" sz="1100" dirty="0"/>
              </a:br>
              <a:r>
                <a:rPr lang="en-US" sz="1100" b="1" dirty="0"/>
                <a:t>Focus:</a:t>
              </a:r>
              <a:r>
                <a:rPr lang="en-US" sz="1100" dirty="0"/>
                <a:t> Conduct pre-fire drills; set clear escalation cues.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393A542-059E-B53D-8846-15B8862FB6BA}"/>
                </a:ext>
              </a:extLst>
            </p:cNvPr>
            <p:cNvSpPr txBox="1"/>
            <p:nvPr/>
          </p:nvSpPr>
          <p:spPr>
            <a:xfrm>
              <a:off x="3528572" y="6158509"/>
              <a:ext cx="3347424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Pillar A — Association (Influence and Network)</a:t>
              </a:r>
              <a:br>
                <a:rPr lang="en-US" sz="1100" dirty="0"/>
              </a:br>
              <a:r>
                <a:rPr lang="en-US" sz="1100" b="1" dirty="0"/>
                <a:t>Developin</a:t>
              </a:r>
              <a:r>
                <a:rPr lang="en-US" sz="1100" dirty="0"/>
                <a:t>g: Curious but unfiltered; seeks wide inputs.</a:t>
              </a:r>
              <a:br>
                <a:rPr lang="en-US" sz="1100" dirty="0"/>
              </a:br>
              <a:r>
                <a:rPr lang="en-US" sz="1100" b="1" dirty="0"/>
                <a:t>Strength</a:t>
              </a:r>
              <a:r>
                <a:rPr lang="en-US" sz="1100" dirty="0"/>
                <a:t>: Eager to learn from diverse voices.</a:t>
              </a:r>
              <a:br>
                <a:rPr lang="en-US" sz="1100" dirty="0"/>
              </a:br>
              <a:r>
                <a:rPr lang="en-US" sz="1100" b="1" dirty="0"/>
                <a:t>Risk</a:t>
              </a:r>
              <a:r>
                <a:rPr lang="en-US" sz="1100" dirty="0"/>
                <a:t>: Noise and manipulability in guidance.</a:t>
              </a:r>
              <a:br>
                <a:rPr lang="en-US" sz="1100" dirty="0"/>
              </a:br>
              <a:r>
                <a:rPr lang="en-US" sz="1100" b="1" dirty="0"/>
                <a:t>Focus</a:t>
              </a:r>
              <a:r>
                <a:rPr lang="en-US" sz="1100" dirty="0"/>
                <a:t>: Do a source audit; form a trusted mentor panel.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1F64132-7874-3DCF-40D9-86ACF78AD854}"/>
                </a:ext>
              </a:extLst>
            </p:cNvPr>
            <p:cNvSpPr txBox="1"/>
            <p:nvPr/>
          </p:nvSpPr>
          <p:spPr>
            <a:xfrm>
              <a:off x="3528572" y="7175985"/>
              <a:ext cx="3164840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Pillar D — Dharma (Integrity and Judgment)</a:t>
              </a:r>
            </a:p>
            <a:p>
              <a:r>
                <a:rPr lang="en-US" sz="1100" b="1" dirty="0"/>
                <a:t>Balanced:</a:t>
              </a:r>
              <a:r>
                <a:rPr lang="en-US" sz="1100" dirty="0"/>
                <a:t> Compliant and fair in most cases.</a:t>
              </a:r>
              <a:br>
                <a:rPr lang="en-US" sz="1100" dirty="0"/>
              </a:br>
              <a:r>
                <a:rPr lang="en-US" sz="1100" b="1" dirty="0"/>
                <a:t>Strength:</a:t>
              </a:r>
              <a:r>
                <a:rPr lang="en-US" sz="1100" dirty="0"/>
                <a:t> Follows process and shows moral steadiness.</a:t>
              </a:r>
              <a:br>
                <a:rPr lang="en-US" sz="1100" dirty="0"/>
              </a:br>
              <a:r>
                <a:rPr lang="en-US" sz="1100" b="1" dirty="0"/>
                <a:t>Risk:</a:t>
              </a:r>
              <a:r>
                <a:rPr lang="en-US" sz="1100" dirty="0"/>
                <a:t> Decision-making may slow at the edges.</a:t>
              </a:r>
              <a:br>
                <a:rPr lang="en-US" sz="1100" dirty="0"/>
              </a:br>
              <a:r>
                <a:rPr lang="en-US" sz="1100" b="1" dirty="0"/>
                <a:t>Focus:</a:t>
              </a:r>
              <a:r>
                <a:rPr lang="en-US" sz="1100" dirty="0"/>
                <a:t> Define decision SLAs; practice making tough calls.</a:t>
              </a:r>
              <a:br>
                <a:rPr lang="en-US" sz="1100" dirty="0"/>
              </a:br>
              <a:r>
                <a:rPr lang="en-US" sz="1100" b="1" dirty="0"/>
                <a:t>Focus:</a:t>
              </a:r>
              <a:r>
                <a:rPr lang="en-US" sz="1100" dirty="0"/>
                <a:t> Grey-zone practice; principles playbook.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20DCFB-A416-C26C-46AE-7CD76706D909}"/>
                </a:ext>
              </a:extLst>
            </p:cNvPr>
            <p:cNvSpPr/>
            <p:nvPr/>
          </p:nvSpPr>
          <p:spPr>
            <a:xfrm>
              <a:off x="3528962" y="6158951"/>
              <a:ext cx="3225800" cy="2500051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76C22CE-DF93-F1D4-AFF8-96B92D70EA5A}"/>
              </a:ext>
            </a:extLst>
          </p:cNvPr>
          <p:cNvSpPr txBox="1"/>
          <p:nvPr/>
        </p:nvSpPr>
        <p:spPr>
          <a:xfrm>
            <a:off x="1" y="1002890"/>
            <a:ext cx="685799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Your Leadership Foundations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9770AF-95D6-B05A-B3CA-4F09FDAFD2E8}"/>
              </a:ext>
            </a:extLst>
          </p:cNvPr>
          <p:cNvSpPr txBox="1"/>
          <p:nvPr/>
        </p:nvSpPr>
        <p:spPr>
          <a:xfrm>
            <a:off x="0" y="794545"/>
            <a:ext cx="685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Prepared by Dr. Prem Prakash Pathak | Executive Alumni, IIM Kozhikode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AA2F20-7ADA-52B3-8809-D3F33AC0D2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243"/>
          <a:stretch>
            <a:fillRect/>
          </a:stretch>
        </p:blipFill>
        <p:spPr>
          <a:xfrm>
            <a:off x="3585553" y="47060"/>
            <a:ext cx="3139712" cy="34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14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74FEA5-7E55-416B-822E-8A2B8D9AB7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082"/>
          <a:stretch>
            <a:fillRect/>
          </a:stretch>
        </p:blipFill>
        <p:spPr>
          <a:xfrm>
            <a:off x="0" y="1"/>
            <a:ext cx="2014933" cy="7060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5F9770-6E4F-9E88-36D8-48AB5D124499}"/>
              </a:ext>
            </a:extLst>
          </p:cNvPr>
          <p:cNvSpPr txBox="1"/>
          <p:nvPr/>
        </p:nvSpPr>
        <p:spPr>
          <a:xfrm>
            <a:off x="105274" y="6495968"/>
            <a:ext cx="6720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T – Tamas Dominant (“Mountain in mist”)</a:t>
            </a:r>
            <a:endParaRPr lang="en-IN" sz="1400" dirty="0"/>
          </a:p>
          <a:p>
            <a:r>
              <a:rPr lang="en-IN" sz="1400" b="1" dirty="0"/>
              <a:t>Remark:</a:t>
            </a:r>
            <a:endParaRPr lang="en-IN" sz="1400" dirty="0"/>
          </a:p>
          <a:p>
            <a:r>
              <a:rPr lang="en-IN" sz="1400" dirty="0"/>
              <a:t>Your leadership shows </a:t>
            </a:r>
            <a:r>
              <a:rPr lang="en-IN" sz="1400" i="1" dirty="0"/>
              <a:t>Tamas-dominant</a:t>
            </a:r>
            <a:r>
              <a:rPr lang="en-IN" sz="1400" dirty="0"/>
              <a:t> steadiness — stable, grounded, and calm like a mountain in mist. You bring order and dependability when chaos surrounds others.</a:t>
            </a:r>
          </a:p>
          <a:p>
            <a:r>
              <a:rPr lang="en-IN" sz="1400" dirty="0"/>
              <a:t>However, this calm can slip into inertia or indecision if not balanced with light and motion. To evolve, </a:t>
            </a:r>
            <a:r>
              <a:rPr lang="en-IN" sz="1400" i="1" dirty="0"/>
              <a:t>ignite Sattva</a:t>
            </a:r>
            <a:r>
              <a:rPr lang="en-IN" sz="1400" dirty="0"/>
              <a:t>: seek openness, act in small, visible steps, and celebrate progress.</a:t>
            </a:r>
          </a:p>
          <a:p>
            <a:r>
              <a:rPr lang="en-IN" sz="1400" b="1" dirty="0"/>
              <a:t>Recommendation:</a:t>
            </a:r>
            <a:endParaRPr lang="en-IN" sz="1400" dirty="0"/>
          </a:p>
          <a:p>
            <a:r>
              <a:rPr lang="en-IN" sz="1400" dirty="0"/>
              <a:t>Cultivate </a:t>
            </a:r>
            <a:r>
              <a:rPr lang="en-IN" sz="1400" b="1" dirty="0"/>
              <a:t>transparency</a:t>
            </a:r>
            <a:r>
              <a:rPr lang="en-IN" sz="1400" dirty="0"/>
              <a:t> and </a:t>
            </a:r>
            <a:r>
              <a:rPr lang="en-IN" sz="1400" b="1" dirty="0"/>
              <a:t>small wins</a:t>
            </a:r>
            <a:r>
              <a:rPr lang="en-IN" sz="1400" dirty="0"/>
              <a:t>. Clarify priorities, communicate openly, and track progress visibly. Each conscious action lifts the mist, transforming stability into purposeful momentum.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75CE88-20C3-8683-39CB-139EA8BCEB0C}"/>
              </a:ext>
            </a:extLst>
          </p:cNvPr>
          <p:cNvSpPr txBox="1"/>
          <p:nvPr/>
        </p:nvSpPr>
        <p:spPr>
          <a:xfrm>
            <a:off x="-1" y="9296839"/>
            <a:ext cx="68579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Confidential &amp; Personal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This report contains sensitive personal insights. It is intended solely for the recipient and should not be shared, distributed, or discussed without explicit consent.</a:t>
            </a:r>
            <a:endParaRPr lang="en-IN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17B379-504C-8C81-39A6-CEEA5A5C7AE1}"/>
              </a:ext>
            </a:extLst>
          </p:cNvPr>
          <p:cNvSpPr txBox="1"/>
          <p:nvPr/>
        </p:nvSpPr>
        <p:spPr>
          <a:xfrm>
            <a:off x="1" y="1002890"/>
            <a:ext cx="685799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Your Inner Energy (</a:t>
            </a:r>
            <a:r>
              <a:rPr lang="en-IN" b="1" dirty="0" err="1"/>
              <a:t>Guṇa</a:t>
            </a:r>
            <a:r>
              <a:rPr lang="en-IN" b="1" dirty="0"/>
              <a:t>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601029-F9BD-E3D6-BE70-09E5D1507C70}"/>
              </a:ext>
            </a:extLst>
          </p:cNvPr>
          <p:cNvSpPr txBox="1"/>
          <p:nvPr/>
        </p:nvSpPr>
        <p:spPr>
          <a:xfrm>
            <a:off x="0" y="794545"/>
            <a:ext cx="685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Prepared by Dr. Prem Prakash Pathak | Executive Alumni, IIM Kozhikode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95B055-9AE3-37DB-29B5-139D2C13C349}"/>
              </a:ext>
            </a:extLst>
          </p:cNvPr>
          <p:cNvSpPr txBox="1"/>
          <p:nvPr/>
        </p:nvSpPr>
        <p:spPr>
          <a:xfrm>
            <a:off x="84801" y="1465989"/>
            <a:ext cx="66360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Dominant </a:t>
            </a:r>
            <a:r>
              <a:rPr lang="en-US" sz="1600" dirty="0" err="1"/>
              <a:t>Guṇa</a:t>
            </a:r>
            <a:r>
              <a:rPr lang="en-US" sz="1600" dirty="0"/>
              <a:t>: Tamas</a:t>
            </a:r>
          </a:p>
          <a:p>
            <a:r>
              <a:rPr lang="en-US" sz="1600" dirty="0"/>
              <a:t>Normalized %: </a:t>
            </a:r>
            <a:r>
              <a:rPr lang="en-US" sz="1600" b="1" dirty="0"/>
              <a:t>S 32.8% · R 28.1% · T 39.1%</a:t>
            </a:r>
            <a:endParaRPr lang="en-US" sz="1600" dirty="0"/>
          </a:p>
          <a:p>
            <a:r>
              <a:rPr lang="en-US" sz="1600" dirty="0"/>
              <a:t>T-scores: </a:t>
            </a:r>
            <a:r>
              <a:rPr lang="en-US" sz="1600" b="1" dirty="0"/>
              <a:t>S 43.1 · R 45.2 · T 53.0</a:t>
            </a:r>
            <a:endParaRPr lang="en-US" sz="1600" dirty="0"/>
          </a:p>
          <a:p>
            <a:r>
              <a:rPr lang="en-US" sz="1200" dirty="0"/>
              <a:t>Dominant </a:t>
            </a:r>
            <a:r>
              <a:rPr lang="en-US" sz="1200" dirty="0" err="1"/>
              <a:t>Guṇa</a:t>
            </a:r>
            <a:r>
              <a:rPr lang="en-US" sz="1200" dirty="0"/>
              <a:t> is identified by the highest share of earned points relative to each </a:t>
            </a:r>
            <a:r>
              <a:rPr lang="en-US" sz="1200" dirty="0" err="1"/>
              <a:t>Guṇa’s</a:t>
            </a:r>
            <a:r>
              <a:rPr lang="en-US" sz="1200" dirty="0"/>
              <a:t> own maximum; Leaning normalizes </a:t>
            </a:r>
            <a:r>
              <a:rPr lang="en-US" sz="1200" dirty="0" err="1"/>
              <a:t>Guṇa</a:t>
            </a:r>
            <a:r>
              <a:rPr lang="en-US" sz="1200" dirty="0"/>
              <a:t> shares so S+R+T=100 for comparison. T-scores compare you to a reference group (mean 50, SD 10).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284F8-2D4B-E146-7172-FF764A4ABC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243"/>
          <a:stretch>
            <a:fillRect/>
          </a:stretch>
        </p:blipFill>
        <p:spPr>
          <a:xfrm>
            <a:off x="3585553" y="47060"/>
            <a:ext cx="3139712" cy="3400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B82AC7-6F81-0B2B-5903-4C3F79FA6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933" y="3217817"/>
            <a:ext cx="3580430" cy="313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18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2A836-5B62-ABED-4709-C12F378D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DF806F2-5EF1-EEDA-FCCF-6D71B4D705B7}"/>
              </a:ext>
            </a:extLst>
          </p:cNvPr>
          <p:cNvSpPr/>
          <p:nvPr/>
        </p:nvSpPr>
        <p:spPr>
          <a:xfrm>
            <a:off x="-1" y="1633257"/>
            <a:ext cx="6813758" cy="30115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F88FA-3301-272C-0DB4-36D4B4FCFE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082"/>
          <a:stretch>
            <a:fillRect/>
          </a:stretch>
        </p:blipFill>
        <p:spPr>
          <a:xfrm>
            <a:off x="0" y="1"/>
            <a:ext cx="2014933" cy="7060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22CCF2-4B39-3D5E-6CC6-9DA66A9673D9}"/>
              </a:ext>
            </a:extLst>
          </p:cNvPr>
          <p:cNvSpPr txBox="1"/>
          <p:nvPr/>
        </p:nvSpPr>
        <p:spPr>
          <a:xfrm>
            <a:off x="-1" y="9296839"/>
            <a:ext cx="68579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Confidential &amp; Personal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This report contains sensitive personal insights. It is intended solely for the recipient and should not be shared, distributed, or discussed without explicit consent.</a:t>
            </a:r>
            <a:endParaRPr lang="en-IN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4C26C-527B-480D-704F-1D51CA958D13}"/>
              </a:ext>
            </a:extLst>
          </p:cNvPr>
          <p:cNvSpPr txBox="1"/>
          <p:nvPr/>
        </p:nvSpPr>
        <p:spPr>
          <a:xfrm>
            <a:off x="3484820" y="1844015"/>
            <a:ext cx="312711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100" b="1" dirty="0"/>
              <a:t>You are a Wise Altruist </a:t>
            </a:r>
            <a:r>
              <a:rPr lang="en-US" sz="1100" dirty="0"/>
              <a:t>— a leader who combines deep compassion with strategic clarity. You demonstrate a strong sense of purpose supported by clear KPIs, balancing head and heart to inspire trust, alignment, and responsible action across stakeholders.</a:t>
            </a:r>
          </a:p>
          <a:p>
            <a:pPr algn="just">
              <a:buNone/>
            </a:pPr>
            <a:endParaRPr lang="en-US" sz="1100" dirty="0"/>
          </a:p>
          <a:p>
            <a:pPr algn="just">
              <a:buNone/>
            </a:pPr>
            <a:r>
              <a:rPr lang="en-US" sz="1100" b="1" dirty="0"/>
              <a:t>Development Focus:</a:t>
            </a:r>
          </a:p>
          <a:p>
            <a:pPr algn="just">
              <a:buNone/>
            </a:pPr>
            <a:br>
              <a:rPr lang="en-US" sz="1100" dirty="0"/>
            </a:br>
            <a:r>
              <a:rPr lang="en-US" sz="1100" dirty="0"/>
              <a:t>To strengthen this leadership profile further, continue to document and codify successful decision scenarios, especially those involving complex ethical or strategic trade-offs. Additionally, mentor peers and emerging leaders on applying values-based judgment in high-pressure or ambiguous situations.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6D2B0-6F62-783C-D864-9902830B9A2B}"/>
              </a:ext>
            </a:extLst>
          </p:cNvPr>
          <p:cNvSpPr txBox="1"/>
          <p:nvPr/>
        </p:nvSpPr>
        <p:spPr>
          <a:xfrm>
            <a:off x="3428998" y="5429016"/>
            <a:ext cx="3033023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100" dirty="0"/>
              <a:t>You are an </a:t>
            </a:r>
            <a:r>
              <a:rPr lang="en-US" sz="1100" b="1" dirty="0"/>
              <a:t>Inclusive Influencer</a:t>
            </a:r>
            <a:r>
              <a:rPr lang="en-US" sz="1100" dirty="0"/>
              <a:t> — a leader who intentionally seeks diverse, wise perspectives and listens deeply. You cultivate a “mentor mosaic,” encourage constructive dissent, and serve as a strong carrier of positive culture and values.</a:t>
            </a:r>
          </a:p>
          <a:p>
            <a:pPr algn="just">
              <a:buNone/>
            </a:pPr>
            <a:endParaRPr lang="en-US" sz="1100" b="1" dirty="0"/>
          </a:p>
          <a:p>
            <a:pPr algn="just">
              <a:buNone/>
            </a:pPr>
            <a:r>
              <a:rPr lang="en-US" sz="1100" b="1" dirty="0"/>
              <a:t>Development Focus:</a:t>
            </a:r>
          </a:p>
          <a:p>
            <a:pPr algn="just">
              <a:buNone/>
            </a:pPr>
            <a:br>
              <a:rPr lang="en-US" sz="1100" dirty="0"/>
            </a:br>
            <a:r>
              <a:rPr lang="en-US" sz="1100" dirty="0"/>
              <a:t>Enhance this strength by formalizing mentor-board style reviews, establishing rituals that normalize healthy dissent, and continuing to broaden talent pipelines to ensure diverse voices and future leadership readiness.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579480-D1FD-5B40-F27C-8AB43F8FEF68}"/>
              </a:ext>
            </a:extLst>
          </p:cNvPr>
          <p:cNvSpPr txBox="1"/>
          <p:nvPr/>
        </p:nvSpPr>
        <p:spPr>
          <a:xfrm>
            <a:off x="1" y="1002890"/>
            <a:ext cx="685799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Your Leadership Profile Across Six Key Matrices</a:t>
            </a:r>
            <a:endParaRPr lang="en-IN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C8780C-331C-D4C5-0053-6921354FCA96}"/>
              </a:ext>
            </a:extLst>
          </p:cNvPr>
          <p:cNvSpPr/>
          <p:nvPr/>
        </p:nvSpPr>
        <p:spPr>
          <a:xfrm>
            <a:off x="19667" y="4956560"/>
            <a:ext cx="6813758" cy="30115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7FFF61-8FBE-282C-B189-08EF5F421B6E}"/>
              </a:ext>
            </a:extLst>
          </p:cNvPr>
          <p:cNvSpPr txBox="1"/>
          <p:nvPr/>
        </p:nvSpPr>
        <p:spPr>
          <a:xfrm>
            <a:off x="0" y="794545"/>
            <a:ext cx="685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Prepared by Dr. Prem Prakash Pathak | Executive Alumni, IIM Kozhikode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291EFF-D710-CA2D-F1D3-92994DB4D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3" y="1844015"/>
            <a:ext cx="3398400" cy="23443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23651D-F95F-4B94-9566-EE0736221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4" y="5204283"/>
            <a:ext cx="3398400" cy="23537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6A29C9-8BAE-A883-5F57-B1508F7FB7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6243"/>
          <a:stretch>
            <a:fillRect/>
          </a:stretch>
        </p:blipFill>
        <p:spPr>
          <a:xfrm>
            <a:off x="3585553" y="47060"/>
            <a:ext cx="3139712" cy="34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35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C3CC6-60F8-6B5C-2DB4-CB9F0588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E1798-E461-68A8-DB7E-A3C542239C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082"/>
          <a:stretch>
            <a:fillRect/>
          </a:stretch>
        </p:blipFill>
        <p:spPr>
          <a:xfrm>
            <a:off x="0" y="1"/>
            <a:ext cx="2014933" cy="7060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86A453-06DF-1CBA-32AD-246EB06A051F}"/>
              </a:ext>
            </a:extLst>
          </p:cNvPr>
          <p:cNvSpPr txBox="1"/>
          <p:nvPr/>
        </p:nvSpPr>
        <p:spPr>
          <a:xfrm>
            <a:off x="-1" y="9296839"/>
            <a:ext cx="68579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Confidential &amp; Personal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This report contains sensitive personal insights. It is intended solely for the recipient and should not be shared, distributed, or discussed without explicit consent.</a:t>
            </a:r>
            <a:endParaRPr lang="en-IN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25BD5-4136-65B7-F375-9C0D5C267F42}"/>
              </a:ext>
            </a:extLst>
          </p:cNvPr>
          <p:cNvSpPr txBox="1"/>
          <p:nvPr/>
        </p:nvSpPr>
        <p:spPr>
          <a:xfrm>
            <a:off x="3459602" y="1820702"/>
            <a:ext cx="3033023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100" dirty="0"/>
              <a:t>You are a </a:t>
            </a:r>
            <a:r>
              <a:rPr lang="en-US" sz="1100" b="1" dirty="0"/>
              <a:t>Purpose-Aligned Achiever</a:t>
            </a:r>
            <a:r>
              <a:rPr lang="en-US" sz="1100" dirty="0"/>
              <a:t> — your ambition is anchored in service and long-term value creation. You scale impact ethically, build enduring competitive moats, and foster trust that compounds over time.</a:t>
            </a:r>
          </a:p>
          <a:p>
            <a:pPr algn="just">
              <a:buNone/>
            </a:pPr>
            <a:endParaRPr lang="en-US" sz="1100" b="1" dirty="0"/>
          </a:p>
          <a:p>
            <a:pPr algn="just">
              <a:buNone/>
            </a:pPr>
            <a:r>
              <a:rPr lang="en-US" sz="1100" b="1" dirty="0"/>
              <a:t>Development Focus:</a:t>
            </a:r>
          </a:p>
          <a:p>
            <a:pPr algn="just">
              <a:buNone/>
            </a:pPr>
            <a:br>
              <a:rPr lang="en-US" sz="1100" dirty="0"/>
            </a:br>
            <a:r>
              <a:rPr lang="en-US" sz="1100" dirty="0"/>
              <a:t>Elevate this strength by teaching the principle of “right means for the right ends,” clearly codifying your non-negotiable values, and tracking values-aligned KPIs to reinforce responsible growth and mission integrity.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6E1C4-CF98-069F-E514-FAFA245EFA63}"/>
              </a:ext>
            </a:extLst>
          </p:cNvPr>
          <p:cNvSpPr txBox="1"/>
          <p:nvPr/>
        </p:nvSpPr>
        <p:spPr>
          <a:xfrm>
            <a:off x="3459602" y="5107644"/>
            <a:ext cx="335415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100" b="1" dirty="0"/>
              <a:t>Current Pattern:</a:t>
            </a:r>
          </a:p>
          <a:p>
            <a:pPr algn="just">
              <a:buNone/>
            </a:pPr>
            <a:br>
              <a:rPr lang="en-US" sz="1100" dirty="0"/>
            </a:br>
            <a:r>
              <a:rPr lang="en-US" sz="1100" dirty="0"/>
              <a:t>There are moments where responsibility is deferred and ownership becomes unclear, which can slow decision-making and impact team morale. This reflects a tendency to avoid difficult commitments or high-stakes choices when expectations or risks feel ambiguous.</a:t>
            </a:r>
          </a:p>
          <a:p>
            <a:pPr algn="just">
              <a:buNone/>
            </a:pPr>
            <a:endParaRPr lang="en-US" sz="1100" b="1" dirty="0"/>
          </a:p>
          <a:p>
            <a:pPr algn="just">
              <a:buNone/>
            </a:pPr>
            <a:r>
              <a:rPr lang="en-US" sz="1100" b="1" dirty="0"/>
              <a:t>Opportunity for Growth:</a:t>
            </a:r>
          </a:p>
          <a:p>
            <a:pPr algn="just">
              <a:buNone/>
            </a:pPr>
            <a:br>
              <a:rPr lang="en-US" sz="1100" dirty="0"/>
            </a:br>
            <a:r>
              <a:rPr lang="en-US" sz="1100" dirty="0"/>
              <a:t>Strengthen accountability and follow-through by establishing clear RACI ownership structures, maintaining a daily commitment and closure checklist, and engaging a sponsor or accountability partner to ensure consistent progress on key priorities.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3F7F21-2F96-F061-689E-10A34052F82F}"/>
              </a:ext>
            </a:extLst>
          </p:cNvPr>
          <p:cNvSpPr/>
          <p:nvPr/>
        </p:nvSpPr>
        <p:spPr>
          <a:xfrm>
            <a:off x="-1" y="1633257"/>
            <a:ext cx="6813758" cy="30115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945821-A942-9D82-79AA-B7A6E100AA62}"/>
              </a:ext>
            </a:extLst>
          </p:cNvPr>
          <p:cNvSpPr/>
          <p:nvPr/>
        </p:nvSpPr>
        <p:spPr>
          <a:xfrm>
            <a:off x="4919" y="4956560"/>
            <a:ext cx="6813758" cy="30115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E6F4C3-09E4-DC49-EAD8-B2050C1E583B}"/>
              </a:ext>
            </a:extLst>
          </p:cNvPr>
          <p:cNvSpPr txBox="1"/>
          <p:nvPr/>
        </p:nvSpPr>
        <p:spPr>
          <a:xfrm>
            <a:off x="1" y="1002890"/>
            <a:ext cx="685799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Your Leadership Profile Across Six Key Matrices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C13D9-2648-82F9-7D08-9A31B3114BCC}"/>
              </a:ext>
            </a:extLst>
          </p:cNvPr>
          <p:cNvSpPr txBox="1"/>
          <p:nvPr/>
        </p:nvSpPr>
        <p:spPr>
          <a:xfrm>
            <a:off x="0" y="794545"/>
            <a:ext cx="685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Prepared by Dr. Prem Prakash Pathak | Executive Alumni, IIM Kozhikode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59F202-70BA-1BCB-F332-91F9C6547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1" y="1782712"/>
            <a:ext cx="3398400" cy="23567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244032-19B5-96E8-B409-2691B7E52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1" y="5259451"/>
            <a:ext cx="3398400" cy="2322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9A0576-9AF4-049B-5C70-663AFC69F2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6243"/>
          <a:stretch>
            <a:fillRect/>
          </a:stretch>
        </p:blipFill>
        <p:spPr>
          <a:xfrm>
            <a:off x="3585553" y="47060"/>
            <a:ext cx="3139712" cy="34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82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DB9577-8A7B-4A61-2191-E05E759C9C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082"/>
          <a:stretch>
            <a:fillRect/>
          </a:stretch>
        </p:blipFill>
        <p:spPr>
          <a:xfrm>
            <a:off x="0" y="1"/>
            <a:ext cx="2014933" cy="7060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C75C9A-E387-F4DB-F76B-76C9D6027229}"/>
              </a:ext>
            </a:extLst>
          </p:cNvPr>
          <p:cNvSpPr txBox="1"/>
          <p:nvPr/>
        </p:nvSpPr>
        <p:spPr>
          <a:xfrm>
            <a:off x="-1" y="9296839"/>
            <a:ext cx="68579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Confidential &amp; Personal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This report contains sensitive personal insights. It is intended solely for the recipient and should not be shared, distributed, or discussed without explicit consent.</a:t>
            </a:r>
            <a:endParaRPr lang="en-IN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DC15C-45A2-E470-7426-939A270FB526}"/>
              </a:ext>
            </a:extLst>
          </p:cNvPr>
          <p:cNvSpPr txBox="1"/>
          <p:nvPr/>
        </p:nvSpPr>
        <p:spPr>
          <a:xfrm>
            <a:off x="3473241" y="1661555"/>
            <a:ext cx="3311019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/>
              <a:t>You are a </a:t>
            </a:r>
            <a:r>
              <a:rPr lang="en-US" sz="1100" b="1" dirty="0"/>
              <a:t>Long-Term Collaborator</a:t>
            </a:r>
            <a:r>
              <a:rPr lang="en-US" sz="1100" dirty="0"/>
              <a:t> — a leader who sustains impact over time and builds enduring systems that serve many. You think beyond short-term wins, focusing instead on shared growth, patient capital, and solutions that work across teams and stakeholders. Your calm persistence and inclusive mindset help you align diverse interests toward a common good.</a:t>
            </a:r>
          </a:p>
          <a:p>
            <a:pPr algn="just"/>
            <a:r>
              <a:rPr lang="en-US" sz="1100" b="1" dirty="0"/>
              <a:t>Development Focus:</a:t>
            </a:r>
          </a:p>
          <a:p>
            <a:pPr algn="just"/>
            <a:r>
              <a:rPr lang="en-US" sz="1100" dirty="0"/>
              <a:t>Strengthen this leadership path by creating a </a:t>
            </a:r>
            <a:r>
              <a:rPr lang="en-US" sz="1100" b="1" dirty="0"/>
              <a:t>10-year strategic map</a:t>
            </a:r>
            <a:r>
              <a:rPr lang="en-US" sz="1100" dirty="0"/>
              <a:t> that outlines long-term priorities and milestones. Define </a:t>
            </a:r>
            <a:r>
              <a:rPr lang="en-US" sz="1100" b="1" dirty="0"/>
              <a:t>“commons” KPIs</a:t>
            </a:r>
            <a:r>
              <a:rPr lang="en-US" sz="1100" dirty="0"/>
              <a:t> that encourage collaboration across departments or partners, and craft a </a:t>
            </a:r>
            <a:r>
              <a:rPr lang="en-US" sz="1100" b="1" dirty="0"/>
              <a:t>legacy narrative</a:t>
            </a:r>
            <a:r>
              <a:rPr lang="en-US" sz="1100" dirty="0"/>
              <a:t> that connects today’s actions to the larger purpose you aim to serve. This will help your leadership move from steady progress to lasting transformation — one that endures beyond projects, quarters, or roles.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1FB17D-E5E8-55C8-25DF-866AB7FAB1EB}"/>
              </a:ext>
            </a:extLst>
          </p:cNvPr>
          <p:cNvSpPr txBox="1"/>
          <p:nvPr/>
        </p:nvSpPr>
        <p:spPr>
          <a:xfrm>
            <a:off x="3472139" y="4985234"/>
            <a:ext cx="321576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/>
              <a:t>You are a </a:t>
            </a:r>
            <a:r>
              <a:rPr lang="en-US" sz="1100" b="1" dirty="0"/>
              <a:t>Reflective Thinker</a:t>
            </a:r>
            <a:r>
              <a:rPr lang="en-US" sz="1100" dirty="0"/>
              <a:t> — a leader who values clarity, logic, and sound frameworks. You think deeply before acting and often bring structure and insight to complex issues. However, this strength can sometimes turn into </a:t>
            </a:r>
            <a:r>
              <a:rPr lang="en-US" sz="1100" b="1" dirty="0"/>
              <a:t>over-analysis</a:t>
            </a:r>
            <a:r>
              <a:rPr lang="en-US" sz="1100" dirty="0"/>
              <a:t>, leading to more discussion than execution. You may prefer whiteboards and slides over prototypes and outcomes, delaying tangible progress despite solid ideas.</a:t>
            </a:r>
          </a:p>
          <a:p>
            <a:pPr algn="just"/>
            <a:r>
              <a:rPr lang="en-US" sz="1100" b="1" dirty="0"/>
              <a:t>Development Focus:</a:t>
            </a:r>
          </a:p>
          <a:p>
            <a:pPr algn="just"/>
            <a:r>
              <a:rPr lang="en-US" sz="1100" dirty="0"/>
              <a:t>Convert reflection into momentum through </a:t>
            </a:r>
            <a:r>
              <a:rPr lang="en-US" sz="1100" b="1" dirty="0"/>
              <a:t>time-boxed pilots</a:t>
            </a:r>
            <a:r>
              <a:rPr lang="en-US" sz="1100" dirty="0"/>
              <a:t> and rapid learning cycles. Adopt a </a:t>
            </a:r>
            <a:r>
              <a:rPr lang="en-US" sz="1100" b="1" dirty="0"/>
              <a:t>“build–measure–learn”</a:t>
            </a:r>
            <a:r>
              <a:rPr lang="en-US" sz="1100" dirty="0"/>
              <a:t> rhythm — start small, test early, and refine as you go. Balance your thoughtful planning with visible action, ensuring that insight consistently turns into real-world results.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BBD9F7-31F5-F634-0EDA-763F8D42F9A5}"/>
              </a:ext>
            </a:extLst>
          </p:cNvPr>
          <p:cNvSpPr/>
          <p:nvPr/>
        </p:nvSpPr>
        <p:spPr>
          <a:xfrm>
            <a:off x="-1" y="1633257"/>
            <a:ext cx="6813758" cy="30115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307690-3A24-D65D-5375-55EEB03B873E}"/>
              </a:ext>
            </a:extLst>
          </p:cNvPr>
          <p:cNvSpPr/>
          <p:nvPr/>
        </p:nvSpPr>
        <p:spPr>
          <a:xfrm>
            <a:off x="4919" y="4956560"/>
            <a:ext cx="6813758" cy="30115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A0B429-6B3F-15C0-5AAF-469E6EBA95CE}"/>
              </a:ext>
            </a:extLst>
          </p:cNvPr>
          <p:cNvSpPr txBox="1"/>
          <p:nvPr/>
        </p:nvSpPr>
        <p:spPr>
          <a:xfrm>
            <a:off x="1" y="1002890"/>
            <a:ext cx="685799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Your Leadership Profile Across Six Key Matrices</a:t>
            </a:r>
            <a:endParaRPr lang="en-IN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4497FD-1C73-3859-5E48-885FBE624DB7}"/>
              </a:ext>
            </a:extLst>
          </p:cNvPr>
          <p:cNvSpPr txBox="1"/>
          <p:nvPr/>
        </p:nvSpPr>
        <p:spPr>
          <a:xfrm>
            <a:off x="0" y="794545"/>
            <a:ext cx="685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Prepared by Dr. Prem Prakash Pathak | Executive Alumni, IIM Kozhikode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A1FCD0-825D-F260-6443-7F3C0893E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553" y="47059"/>
            <a:ext cx="3139712" cy="6325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4F2205-4057-20BD-C6E2-68AE7B495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9" y="1795947"/>
            <a:ext cx="3398400" cy="2276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E47749-0EAC-F583-7FE2-508502906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2" y="5248529"/>
            <a:ext cx="3398400" cy="233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9D7B5F-AED6-3FEB-9C4B-E3DC6436BB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243"/>
          <a:stretch>
            <a:fillRect/>
          </a:stretch>
        </p:blipFill>
        <p:spPr>
          <a:xfrm>
            <a:off x="3585553" y="47060"/>
            <a:ext cx="3139712" cy="34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8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ABE046-BA12-AAE5-7057-8D1A5FC90B5A}"/>
              </a:ext>
            </a:extLst>
          </p:cNvPr>
          <p:cNvSpPr txBox="1"/>
          <p:nvPr/>
        </p:nvSpPr>
        <p:spPr>
          <a:xfrm>
            <a:off x="83916" y="1608881"/>
            <a:ext cx="669016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rgbClr val="4D5C6B"/>
                </a:solidFill>
                <a:effectLst/>
                <a:latin typeface="Inter"/>
              </a:rPr>
              <a:t>About the Framework &amp; Book</a:t>
            </a:r>
            <a:b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</a:br>
            <a: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  <a:t>The LEAD framework (Loka-saṅgraha, Equanimity, Association, Dharma) is a leadership model inspired by Indian Knowledge Systems (IKS). It emphasizes ethical clarity, self-mastery, right association, and service to the collective. A concise introduction appears in the book </a:t>
            </a:r>
            <a:r>
              <a:rPr lang="en-US" sz="1100" b="0" i="1" dirty="0">
                <a:solidFill>
                  <a:srgbClr val="4D5C6B"/>
                </a:solidFill>
                <a:effectLst/>
                <a:latin typeface="Inter"/>
              </a:rPr>
              <a:t>LEAD: A Leadership Framework from Indian Knowledge System</a:t>
            </a:r>
            <a: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  <a:t>. For the retail listing, see </a:t>
            </a:r>
            <a:r>
              <a:rPr lang="en-US" sz="1100" b="0" i="0" dirty="0">
                <a:solidFill>
                  <a:srgbClr val="4D5C6B"/>
                </a:solidFill>
                <a:effectLst/>
                <a:latin typeface="Inter"/>
                <a:hlinkClick r:id="rId2"/>
              </a:rPr>
              <a:t>amazon.in/</a:t>
            </a:r>
            <a:r>
              <a:rPr lang="en-US" sz="1100" b="0" i="0" dirty="0" err="1">
                <a:solidFill>
                  <a:srgbClr val="4D5C6B"/>
                </a:solidFill>
                <a:effectLst/>
                <a:latin typeface="Inter"/>
                <a:hlinkClick r:id="rId2"/>
              </a:rPr>
              <a:t>dp</a:t>
            </a:r>
            <a:r>
              <a:rPr lang="en-US" sz="1100" b="0" i="0" dirty="0">
                <a:solidFill>
                  <a:srgbClr val="4D5C6B"/>
                </a:solidFill>
                <a:effectLst/>
                <a:latin typeface="Inter"/>
                <a:hlinkClick r:id="rId2"/>
              </a:rPr>
              <a:t>/937335308X</a:t>
            </a:r>
            <a: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  <a:t>.</a:t>
            </a:r>
          </a:p>
          <a:p>
            <a:pPr algn="l">
              <a:buNone/>
            </a:pPr>
            <a:r>
              <a:rPr lang="en-US" sz="1100" b="1" i="0" dirty="0">
                <a:solidFill>
                  <a:srgbClr val="4D5C6B"/>
                </a:solidFill>
                <a:effectLst/>
                <a:latin typeface="Inter"/>
              </a:rPr>
              <a:t>Purpose of this Assessment</a:t>
            </a:r>
            <a:b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</a:br>
            <a: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  <a:t>This assessment offers a structured mirror for leaders and teams. It summarizes patterns across six 2×2 matrices (e.g., Selflessness vs. Clarity; Dharma vs. Desire) and a </a:t>
            </a:r>
            <a:r>
              <a:rPr lang="en-US" sz="1100" b="0" i="0" dirty="0" err="1">
                <a:solidFill>
                  <a:srgbClr val="4D5C6B"/>
                </a:solidFill>
                <a:effectLst/>
                <a:latin typeface="Inter"/>
              </a:rPr>
              <a:t>Guṇa</a:t>
            </a:r>
            <a: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  <a:t> profile (Sattva–Rajas–Tamas), then maps results to the LEAD pillars. The aim is practical growth: clearer decisions, ethical steadiness, better associations, and outcomes aligned with long-term welfare.</a:t>
            </a:r>
          </a:p>
          <a:p>
            <a:pPr algn="l">
              <a:buNone/>
            </a:pPr>
            <a:r>
              <a:rPr lang="en-US" sz="1100" b="1" i="0" dirty="0">
                <a:solidFill>
                  <a:srgbClr val="4D5C6B"/>
                </a:solidFill>
                <a:effectLst/>
                <a:latin typeface="Inter"/>
              </a:rPr>
              <a:t>Methodology (High Level)</a:t>
            </a:r>
            <a:b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</a:br>
            <a: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  <a:t>Items use Likert-type responses. Each item is normalized to a 0–100 scale (with reverse-scoring where applicable) and aggregated into traits, matrices, </a:t>
            </a:r>
            <a:r>
              <a:rPr lang="en-US" sz="1100" b="0" i="0" dirty="0" err="1">
                <a:solidFill>
                  <a:srgbClr val="4D5C6B"/>
                </a:solidFill>
                <a:effectLst/>
                <a:latin typeface="Inter"/>
              </a:rPr>
              <a:t>Guṇa</a:t>
            </a:r>
            <a: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  <a:t>, and pillars. For comparability, we express results in T-scores (mean 50, SD 10) relative to a reference dataset; raw pillar and </a:t>
            </a:r>
            <a:r>
              <a:rPr lang="en-US" sz="1100" b="0" i="0" dirty="0" err="1">
                <a:solidFill>
                  <a:srgbClr val="4D5C6B"/>
                </a:solidFill>
                <a:effectLst/>
                <a:latin typeface="Inter"/>
              </a:rPr>
              <a:t>Guṇa</a:t>
            </a:r>
            <a: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  <a:t> percentages are also reported for intuitive reading. Quadrant narratives and coach actions come from the LEAD playbook. We monitor reliability and refine norms through ongoing calibration; interpretations are directional and best used with coaching and organizational context.</a:t>
            </a:r>
          </a:p>
          <a:p>
            <a:pPr algn="l">
              <a:buNone/>
            </a:pPr>
            <a:r>
              <a:rPr lang="en-US" sz="1100" b="1" i="0" dirty="0">
                <a:solidFill>
                  <a:srgbClr val="4D5C6B"/>
                </a:solidFill>
                <a:effectLst/>
                <a:latin typeface="Inter"/>
              </a:rPr>
              <a:t>Good Use</a:t>
            </a:r>
            <a:b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</a:br>
            <a:r>
              <a:rPr lang="en-US" sz="1100" b="0" i="0" dirty="0">
                <a:solidFill>
                  <a:srgbClr val="4D5C6B"/>
                </a:solidFill>
                <a:effectLst/>
                <a:latin typeface="Inter"/>
              </a:rPr>
              <a:t>Treat results as starting points for dialogue, not labels. Re-take after meaningful development intervals (e.g., 3–6 months) to observe trendlines rather than single scores.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F0553-D2F6-8341-E681-0B140AE248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082"/>
          <a:stretch>
            <a:fillRect/>
          </a:stretch>
        </p:blipFill>
        <p:spPr>
          <a:xfrm>
            <a:off x="0" y="1"/>
            <a:ext cx="2014933" cy="7060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4530B3-1F88-5682-F5FA-A72F1158E4F6}"/>
              </a:ext>
            </a:extLst>
          </p:cNvPr>
          <p:cNvSpPr txBox="1"/>
          <p:nvPr/>
        </p:nvSpPr>
        <p:spPr>
          <a:xfrm>
            <a:off x="0" y="972803"/>
            <a:ext cx="685800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en-US" b="1" i="0" dirty="0">
                <a:effectLst/>
                <a:latin typeface="+mj-lt"/>
              </a:rPr>
              <a:t>Appendix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F4A39-AA66-6F13-216C-7B8FF17FB92D}"/>
              </a:ext>
            </a:extLst>
          </p:cNvPr>
          <p:cNvSpPr txBox="1"/>
          <p:nvPr/>
        </p:nvSpPr>
        <p:spPr>
          <a:xfrm>
            <a:off x="-1" y="9296839"/>
            <a:ext cx="68579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chemeClr val="bg1">
                    <a:lumMod val="50000"/>
                  </a:schemeClr>
                </a:solidFill>
              </a:rPr>
              <a:t>Confidential &amp; Personal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This report contains sensitive personal insights. It is intended solely for the recipient and should not be shared, distributed, or discussed without explicit consent.</a:t>
            </a:r>
            <a:endParaRPr lang="en-IN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E04548-FE23-89A5-09F6-6101A9296BF6}"/>
              </a:ext>
            </a:extLst>
          </p:cNvPr>
          <p:cNvSpPr txBox="1"/>
          <p:nvPr/>
        </p:nvSpPr>
        <p:spPr>
          <a:xfrm>
            <a:off x="0" y="794545"/>
            <a:ext cx="685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Prepared by Dr. Prem Prakash Pathak | Executive Alumni, IIM Kozhikode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EC5F41-963D-DAC9-D146-BA7822F62AF4}"/>
              </a:ext>
            </a:extLst>
          </p:cNvPr>
          <p:cNvSpPr txBox="1"/>
          <p:nvPr/>
        </p:nvSpPr>
        <p:spPr>
          <a:xfrm>
            <a:off x="83916" y="7726460"/>
            <a:ext cx="6858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>
                    <a:lumMod val="50000"/>
                  </a:schemeClr>
                </a:solidFill>
              </a:rPr>
              <a:t>Dr. Prem Prakash Pathak</a:t>
            </a:r>
            <a:br>
              <a:rPr lang="en-IN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Ph.D., CSIR–CDRI, Lucknow | Executive Alumni, IIM Kozhikode</a:t>
            </a:r>
            <a:br>
              <a:rPr lang="en-IN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Author — </a:t>
            </a:r>
            <a:r>
              <a:rPr lang="en-IN" sz="1400" i="1" dirty="0">
                <a:solidFill>
                  <a:schemeClr val="bg1">
                    <a:lumMod val="50000"/>
                  </a:schemeClr>
                </a:solidFill>
              </a:rPr>
              <a:t>LEAD</a:t>
            </a:r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 – A leadership Framework from IKS</a:t>
            </a:r>
          </a:p>
          <a:p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Creator — </a:t>
            </a:r>
            <a:r>
              <a:rPr lang="en-IN" sz="1400" b="1" dirty="0">
                <a:solidFill>
                  <a:schemeClr val="bg1">
                    <a:lumMod val="50000"/>
                  </a:schemeClr>
                </a:solidFill>
              </a:rPr>
              <a:t>LEAD Leadership Framework</a:t>
            </a:r>
            <a:br>
              <a:rPr lang="en-IN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📧 </a:t>
            </a:r>
            <a:r>
              <a:rPr lang="en-IN" sz="1400" b="1" dirty="0">
                <a:solidFill>
                  <a:schemeClr val="bg1">
                    <a:lumMod val="50000"/>
                  </a:schemeClr>
                </a:solidFill>
              </a:rPr>
              <a:t>pvdas.rgm@gmail.com</a:t>
            </a:r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 | 📞 </a:t>
            </a:r>
            <a:r>
              <a:rPr lang="en-IN" sz="1400" b="1" dirty="0">
                <a:solidFill>
                  <a:schemeClr val="bg1">
                    <a:lumMod val="50000"/>
                  </a:schemeClr>
                </a:solidFill>
              </a:rPr>
              <a:t>+91-8956467539</a:t>
            </a:r>
            <a:br>
              <a:rPr lang="en-IN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🌐 </a:t>
            </a:r>
            <a:r>
              <a:rPr lang="en-IN" sz="1400" b="1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www.pvdas.in</a:t>
            </a:r>
            <a:endParaRPr lang="en-I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37C072-A37A-B475-641F-01E5D605C7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6243"/>
          <a:stretch>
            <a:fillRect/>
          </a:stretch>
        </p:blipFill>
        <p:spPr>
          <a:xfrm>
            <a:off x="3585553" y="47060"/>
            <a:ext cx="3139712" cy="34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0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299</TotalTime>
  <Words>2076</Words>
  <Application>Microsoft Office PowerPoint</Application>
  <PresentationFormat>A4 Paper (210x297 mm)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 Prakash Pathak</dc:creator>
  <cp:lastModifiedBy>Prem Prakash Pathak</cp:lastModifiedBy>
  <cp:revision>10</cp:revision>
  <dcterms:created xsi:type="dcterms:W3CDTF">2025-10-29T03:58:07Z</dcterms:created>
  <dcterms:modified xsi:type="dcterms:W3CDTF">2025-11-20T14:36:49Z</dcterms:modified>
</cp:coreProperties>
</file>